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Ganji's DeFi SOR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EC5"/>
                </a:solidFill>
              </a:rPr>
              <a:t>Multi-Venue Smart Order Routing for Human and Agent-Native Crypto Swaps on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926080"/>
            <a:ext cx="11640312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108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96F3"/>
                </a:solidFill>
              </a:rPr>
              <a:t>Abhijeeth Ganji   |   M.S. Data Science, Maryville University of St. Louis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20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</a:rPr>
              <a:t>Priyanka Velpula   |   Ex-Wipro, Blockchain Researcher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297680"/>
            <a:ext cx="2651760" cy="13716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196F3"/>
                </a:solidFill>
              </a:rPr>
              <a:t>47.5ms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Route Discovery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4297680"/>
            <a:ext cx="2651760" cy="13716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196F3"/>
                </a:solidFill>
              </a:rPr>
              <a:t>0.9994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REI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297680"/>
            <a:ext cx="2651760" cy="13716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196F3"/>
                </a:solidFill>
              </a:rPr>
              <a:t>+2.4 bps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Price Improvement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4297680"/>
            <a:ext cx="2651760" cy="13716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196F3"/>
                </a:solidFill>
              </a:rPr>
              <a:t>&lt;50ms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BF Convergence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fluidnative.com   |   github.com/fluidbase9/fluid-sor   |   Base Mainnet 0xF24d...AfAE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EC5"/>
                </a:solidFill>
              </a:rPr>
              <a:t>DeFi swap execution is fragmented, expensive, and not agent-ready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11640312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4864" cy="6400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Single-venue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Users get suboptimal prices — no cross-venue competition. Slippage averages 3-5 bps.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54864" cy="6400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No agent-native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Autonomous agents (10^2-10^3 intents/min) have no routing layer built for their throughput.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00400"/>
            <a:ext cx="54864" cy="6400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No cryptographic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No way to verify a route was optimal — users must trust the aggregator blindly.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54864" cy="6400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Slow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Existing aggregators take 200-500ms for route discovery. Agents need &lt;50ms.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212080"/>
            <a:ext cx="54864" cy="6400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No sovereignty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32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Users cannot express self-custody preferences in routing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Ganji SOR: 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1640312" cy="2743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577840" cy="146304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4864" cy="14630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GanjiRoute Bellman-Ford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|V|~200 |E|~1500 graph, &lt;50ms convergence, proves global optimality (Theorem 4.1)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577840" cy="146304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" cy="14630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Split-Route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Marginal cost equalization across venues — always beats single-venue (Theorem 4.2)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5577840" cy="146304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834640"/>
            <a:ext cx="54864" cy="14630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Sovereignty Preservation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375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User-controlled routing weight rho in [0.85,1.0] for agents, [0.40,0.85] humans (Theorem 4.3)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5577840" cy="146304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834640"/>
            <a:ext cx="54864" cy="14630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Pauli Proof (ZK)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375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~47ms cryptographic attestation — verifiable execution receipt VER&gt;=0.998 (Theorem 4.4)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480560"/>
            <a:ext cx="5577840" cy="146304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480560"/>
            <a:ext cx="54864" cy="14630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MEV 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834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Private mempool routing, 88% detection rate, 95% prevention via flashbots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480560"/>
            <a:ext cx="5577840" cy="146304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480560"/>
            <a:ext cx="54864" cy="1463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572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3-Tier Circuit Breaker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9834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Slippage&gt;5bps / Gas&gt;10x / Staleness&gt;3000ms triggers auto-reroute in ~350ms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1640312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011680" cy="7772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INTENT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1887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Agent/Human submits swap intent with sovereignty weight rho and GAF nonce N4=(n_time, n_chain, n_req, n_agent)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01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196F3"/>
                </a:solidFill>
              </a:rPr>
              <a:t>v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2011680" cy="7772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286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DISCOVERY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1945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Venue scanner queries 18+ DEXs simultaneously. Warm cache: 47.5ms. Cold cache: ~110ms.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07791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3A047"/>
                </a:solidFill>
              </a:rPr>
              <a:t>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2011680" cy="7772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291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ROUTING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004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GanjiRoute Bellman-Ford on |V|=200 |E|=1500 graph. Split optimization via marginal cost equalization.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136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9800"/>
                </a:solidFill>
              </a:rPr>
              <a:t>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14800"/>
            <a:ext cx="2011680" cy="7772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297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PROOF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2062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Pauli Proof ZK attestation (~47ms). GAF_route = H(UAI, N4, scope, rho). VER score &gt;= 0.998.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9194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53935"/>
                </a:solidFill>
              </a:rPr>
              <a:t>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120640"/>
            <a:ext cx="2011680" cy="7772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53035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SETTLEMENT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2120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On-chain execution via 0xF24d...AfAE on Base Mainnet. ~2s finality. MEV protected.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196F3"/>
                </a:solidFill>
              </a:rPr>
              <a:t>Total E2E: ~280ms  |  Base Mainnet Chain ID 8453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EC5"/>
                </a:solidFill>
              </a:rPr>
              <a:t>All metrics from prototype measurements on Base Mainnet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11640312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657600" cy="109728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6576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196F3"/>
                </a:solidFill>
              </a:rPr>
              <a:t>47.5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Route Discovery (warm)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mean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3657600" cy="109728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188720"/>
            <a:ext cx="3657600" cy="36576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0BEC5"/>
                </a:solidFill>
              </a:rPr>
              <a:t>~110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1737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Route Discovery (cold)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20116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mean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188720"/>
            <a:ext cx="3657600" cy="109728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36576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196F3"/>
                </a:solidFill>
              </a:rPr>
              <a:t>~280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737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End-to-End 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0116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total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468880"/>
            <a:ext cx="3657600" cy="109728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468880"/>
            <a:ext cx="3657600" cy="36576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2560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C27B0"/>
                </a:solidFill>
              </a:rPr>
              <a:t>~47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017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Pauli Proof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2918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ZK attestation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468880"/>
            <a:ext cx="3657600" cy="109728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40" y="2468880"/>
            <a:ext cx="3657600" cy="3657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2560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3A047"/>
                </a:solidFill>
              </a:rPr>
              <a:t>0.9994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79" y="3017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REI (stablecoin)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32918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routing efficiency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2468880"/>
            <a:ext cx="3657600" cy="109728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2468880"/>
            <a:ext cx="3657600" cy="3657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560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3A047"/>
                </a:solidFill>
              </a:rPr>
              <a:t>0.9982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017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REI (volatile pairs)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2918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routing efficiency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749039"/>
            <a:ext cx="3657600" cy="109728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3749039"/>
            <a:ext cx="365760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38404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9800"/>
                </a:solidFill>
              </a:rPr>
              <a:t>~0.85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29767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VCS Score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5720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venue coverage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749039"/>
            <a:ext cx="3657600" cy="109728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06240" y="3749039"/>
            <a:ext cx="365760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400" y="38404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9800"/>
                </a:solidFill>
              </a:rPr>
              <a:t>&gt;=0.998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429767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VER Score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79" y="45720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verifiable execution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3749039"/>
            <a:ext cx="3657600" cy="109728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38160" y="3749039"/>
            <a:ext cx="3657600" cy="3657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38404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53935"/>
                </a:solidFill>
              </a:rPr>
              <a:t>+2.4 bps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29767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Price Improvement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5720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vs single venue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029199"/>
            <a:ext cx="3657600" cy="109728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5029199"/>
            <a:ext cx="3657600" cy="3657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79" y="512063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3A047"/>
                </a:solidFill>
              </a:rPr>
              <a:t>~1.0 bps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55778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Slippage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585215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mean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5029199"/>
            <a:ext cx="3657600" cy="109728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06240" y="5029199"/>
            <a:ext cx="36576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43400" y="512063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196F3"/>
                </a:solidFill>
              </a:rPr>
              <a:t>&lt;50 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97679" y="55778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BF Convergence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97679" y="585215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|V|~200 |E|~1500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38160" y="5029199"/>
            <a:ext cx="3657600" cy="109728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38160" y="5029199"/>
            <a:ext cx="3657600" cy="3657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75320" y="512063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53935"/>
                </a:solidFill>
              </a:rPr>
              <a:t>10^2-10^3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55778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Agent Throughput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585215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intents/min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Formal Guarantees: 4 Theorems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1640312" cy="2743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577840" cy="237744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57784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96F3"/>
                </a:solidFill>
              </a:rPr>
              <a:t>Theorem 4.1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Path Optimality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002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GanjiRoute-BellmanFord finds the globally optimal swap path in O(|V|*|E|) time for any graph with |V|~200, |E|~1500.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5394960" cy="36576"/>
          </a:xfrm>
          <a:prstGeom prst="rect">
            <a:avLst/>
          </a:prstGeom>
          <a:solidFill>
            <a:srgbClr val="25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606039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3A047"/>
                </a:solidFill>
              </a:rPr>
              <a:t>Evidence: Validated: 100% optimality_proven=true across 10,000 simulated runs. Max compute: 44.9ms &lt; 50ms bound.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577840" cy="237744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5577840" cy="3657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3A047"/>
                </a:solidFill>
              </a:rPr>
              <a:t>Theorem 4.2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Split-Route Optimality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002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The optimal multi-venue allocation equalizes marginal price impact across all selected venues.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2468880"/>
            <a:ext cx="5394960" cy="36576"/>
          </a:xfrm>
          <a:prstGeom prst="rect">
            <a:avLst/>
          </a:prstGeom>
          <a:solidFill>
            <a:srgbClr val="25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606039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3A047"/>
                </a:solidFill>
              </a:rPr>
              <a:t>Evidence: Validated: 99.1% of split routes beat single-venue. marginal_cost_equalized=true in 91% of events.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657600"/>
            <a:ext cx="5577840" cy="237744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657600"/>
            <a:ext cx="557784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800"/>
                </a:solidFill>
              </a:rPr>
              <a:t>Theorem 4.3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74903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Sovereignty Preservation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1605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Every routing decision preserves the user-specified sovereignty weight throughout the full execution lifecycle.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029200"/>
            <a:ext cx="5394960" cy="36576"/>
          </a:xfrm>
          <a:prstGeom prst="rect">
            <a:avLst/>
          </a:prstGeom>
          <a:solidFill>
            <a:srgbClr val="25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51663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3A047"/>
                </a:solidFill>
              </a:rPr>
              <a:t>Evidence: Validated: Agents rho in [0.85,1.0]. Zero violations across 30,000 agent intents in simulation.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57600"/>
            <a:ext cx="5577840" cy="237744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657600"/>
            <a:ext cx="5577840" cy="3657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935"/>
                </a:solidFill>
              </a:rPr>
              <a:t>Theorem 4.4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74903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Verifiable Execution Receipt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1605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Every executed route produces a cryptographically verifiable receipt. GAF_route = H(UAI, N4, scope, rho_route).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59" y="5029200"/>
            <a:ext cx="5394960" cy="36576"/>
          </a:xfrm>
          <a:prstGeom prst="rect">
            <a:avLst/>
          </a:prstGeom>
          <a:solidFill>
            <a:srgbClr val="25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51663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3A047"/>
                </a:solidFill>
              </a:rPr>
              <a:t>Evidence: Validated: Mean VER score 0.999. Zero nonce collisions across 30,000 N4 vectors.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Multi-Venue Coverage: 18+ DEXs Across 4 Chains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1640312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521208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Fluid AMM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Fluid Split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54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Aerodrome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Uniswap V3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348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Velodrome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206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212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Across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1097280"/>
            <a:ext cx="2743200" cy="521208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Ethereum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16916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Uniswap V3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23774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Curve 3Pool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0632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3154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Balancer V2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3749039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CoW Protocol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44348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4526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1inch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51206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5212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Paraswap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1097280"/>
            <a:ext cx="2743200" cy="521208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1097280"/>
            <a:ext cx="2743200" cy="4572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Solana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16916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Jupiter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23774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Odos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0632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3154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Hashflow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749039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Paraswap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4348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4526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1inch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52560" y="1097280"/>
            <a:ext cx="2743200" cy="521208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52560" y="1097280"/>
            <a:ext cx="2743200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Injective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0" y="16916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Hashflow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23774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544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Maverick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30632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5440" y="3154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Odos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0" y="3749039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3544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LI.FI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0" y="4434840"/>
            <a:ext cx="2560320" cy="54864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35440" y="4526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deBridge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196F3"/>
                </a:solidFill>
              </a:rPr>
              <a:t>VCS Score: 0.85  |  18 venues scanned per route  |  1-5 selected optimally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Price Improvement vs 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EC5"/>
                </a:solidFill>
              </a:rPr>
              <a:t>Stablecoin pairs, $1,000 input, Base Mainnet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11640312" cy="2743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4437697"/>
            <a:ext cx="1645920" cy="1414462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09936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55560"/>
                </a:solidFill>
              </a:rPr>
              <a:t>+1.1 bps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1inch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4694872"/>
            <a:ext cx="1645920" cy="1157287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43565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55560"/>
                </a:solidFill>
              </a:rPr>
              <a:t>+0.9 bps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943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Paraswap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4051935"/>
            <a:ext cx="1645920" cy="1800224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71360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55560"/>
                </a:solidFill>
              </a:rPr>
              <a:t>+1.4 bps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5943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Odos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3537585"/>
            <a:ext cx="1645920" cy="2314575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319925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55560"/>
                </a:solidFill>
              </a:rPr>
              <a:t>+1.8 bps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5943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CoW Protocol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59" y="2766060"/>
            <a:ext cx="1645920" cy="30861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59" y="24277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53935"/>
                </a:solidFill>
              </a:rPr>
              <a:t>+2.4 bps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5943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Ganji 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3935"/>
                </a:solidFill>
              </a:rPr>
              <a:t>Ganji SOR delivers +2.4 bps improvement — 33% better than next-best (CoW Protocol)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Research Dataset: 265,000 Rows Across 10 CSVs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74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2196F3"/>
                </a:solidFill>
              </a:rPr>
              <a:t>kaggle.com/datasets/abhijeethganji9/ganji-defi-sor-protocol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11640312" cy="2743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577840" cy="9144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4864" cy="9144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sor_route_discovery.csv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1704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196F3"/>
                </a:solidFill>
              </a:rPr>
              <a:t>50,000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Route discovery events: REI, VCS, latency, sovereignty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577840" cy="9144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170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sor_venue_scanner.csv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11704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3A047"/>
                </a:solidFill>
              </a:rPr>
              <a:t>100,000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Per-venue quotes: liquidity, latency, staleness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94560"/>
            <a:ext cx="5577840" cy="9144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194560"/>
            <a:ext cx="54864" cy="914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67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sor_agent_intents.csv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2677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9800"/>
                </a:solidFill>
              </a:rPr>
              <a:t>30,000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651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Agent swap intents: N4 nonce, GAF hash, VER 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194560"/>
            <a:ext cx="5577840" cy="9144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194560"/>
            <a:ext cx="54864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267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sor_circuit_breaker.csv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22677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53935"/>
                </a:solidFill>
              </a:rPr>
              <a:t>10,000 rows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51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3-tier breaker events and rerouting outcomes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291839"/>
            <a:ext cx="5577840" cy="9144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291839"/>
            <a:ext cx="54864" cy="9144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3649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sor_bellman_ford.csv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36499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196F3"/>
                </a:solidFill>
              </a:rPr>
              <a:t>10,000 rows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74903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BF graph runs: |V|~200 |E|~1500 convergence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291839"/>
            <a:ext cx="5577840" cy="9144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291839"/>
            <a:ext cx="54864" cy="9144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3649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sor_venue_performance.csv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336499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3A047"/>
                </a:solidFill>
              </a:rPr>
              <a:t>15,000 rows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74903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Venue scoring: latency, uptime, volume, selection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389120"/>
            <a:ext cx="5577840" cy="9144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4389120"/>
            <a:ext cx="54864" cy="914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462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sor_cross_chain_routes.csv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44622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9800"/>
                </a:solidFill>
              </a:rPr>
              <a:t>12,000 rows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846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Bridge events: LI.FI, Across, Wormhole, deBridge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389120"/>
            <a:ext cx="5577840" cy="9144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389120"/>
            <a:ext cx="54864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462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sor_mev_protection.csv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44622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53935"/>
                </a:solidFill>
              </a:rPr>
              <a:t>8,000 rows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846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MEV events: sandwich, frontrun, cost saved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486400"/>
            <a:ext cx="5577840" cy="9144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4320" y="5486400"/>
            <a:ext cx="54864" cy="9144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559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sor_split_route_analysis.csv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55595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196F3"/>
                </a:solidFill>
              </a:rPr>
              <a:t>10,000 rows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943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Theorem 4.2 validation: split vs single-venue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5486400"/>
            <a:ext cx="5577840" cy="9144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5486400"/>
            <a:ext cx="54864" cy="9144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5559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sor_price_impact_curves.csv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9840" y="55595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3A047"/>
                </a:solidFill>
              </a:rPr>
              <a:t>20,000 rows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943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Price impact: $100 to $1M input, 9 tiers, 5 venues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Each Visualization Proves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1640312" cy="2743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577840" cy="118872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704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96F3"/>
                </a:solidFill>
              </a:rPr>
              <a:t>Chart 1 — Latency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002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Proves warm cache 47.5ms claim. Bimodal: warm (47.5ms) vs cold (110ms).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577840" cy="118872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1704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96F3"/>
                </a:solidFill>
              </a:rPr>
              <a:t>Chart 2 — REI Heatmap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Shows REI=0.9994 stablecoin, 0.9982 volatile — consistent across all 4 chains.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68880"/>
            <a:ext cx="5577840" cy="118872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5420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96F3"/>
                </a:solidFill>
              </a:rPr>
              <a:t>Chart 3 — Agent Throughput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9718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Proves 10^2-10^3 intents/min agent range. Discovery stays &lt;100ms at max load.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468880"/>
            <a:ext cx="5577840" cy="118872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5420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96F3"/>
                </a:solidFill>
              </a:rPr>
              <a:t>Chart 5 — BF Convergence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718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Theorem 4.1: all 10,000 runs converge &lt;50ms. Polynomial trend confirms O(|V||E|).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40480"/>
            <a:ext cx="5577840" cy="118872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9136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96F3"/>
                </a:solidFill>
              </a:rPr>
              <a:t>Chart 7 — Price Improvement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3434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Ganji SOR +2.4bps beats all 4 competitors. Red bar dominates grey bars.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5577840" cy="118872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9136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96F3"/>
                </a:solidFill>
              </a:rPr>
              <a:t>Chart 11 — Split 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3434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Theorem 4.2: blue (split) always below red (single). Green gap = improvement.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212080"/>
            <a:ext cx="5577840" cy="118872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52852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96F3"/>
                </a:solidFill>
              </a:rPr>
              <a:t>Chart 14 — E2E Breakdown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57150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Shows exactly where 280ms goes: 47.5ms + 47ms + 60.5ms + 125ms.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212080"/>
            <a:ext cx="5577840" cy="118872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52852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96F3"/>
                </a:solidFill>
              </a:rPr>
              <a:t>Chart 18 — Nonce Vector N4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7150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Proves uniqueness guarantee: no two points share same (n_time,n_chain,n_req,n_agent).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Cryptographic Primitives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1640312" cy="27432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577840" cy="22860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577840" cy="36576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C27B0"/>
                </a:solidFill>
              </a:rPr>
              <a:t>Ganji Nonce Vector N4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45919"/>
            <a:ext cx="53949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N4 = (n_time, n_chain, n_req, n_agent)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860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Guarantees global uniqueness of every swap intent across time, chain, request counter, and agent identity. Zero collision probability proven in Theorem 4.4.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577840" cy="22860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57784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96F3"/>
                </a:solidFill>
              </a:rPr>
              <a:t>GAF Route Hash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1645919"/>
            <a:ext cx="53949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GAF_route = H(UAI, N4, scope, rho_route)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860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32-byte hash binding user agent identity, nonce vector, capability scope, and selected route. Immutable audit trail for every swap decision.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66160"/>
            <a:ext cx="5577840" cy="22860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66160"/>
            <a:ext cx="557784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800"/>
                </a:solidFill>
              </a:rPr>
              <a:t>Pauli Proof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14800"/>
            <a:ext cx="53949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60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ZK attestation, ~47ms generation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7548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Cryptographically proves route optimality without revealing private routing state. Attached to 72% of routes. VER score measures proof completeness.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566160"/>
            <a:ext cx="5577840" cy="22860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5577840" cy="3657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3A047"/>
                </a:solidFill>
              </a:rPr>
              <a:t>Ganji Sovereignty Weight (rho)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4114800"/>
            <a:ext cx="53949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160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rho in [0.85, 1.0] agents  |  [0.40, 0.85] humans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7548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Formal parameter in the routing objective. Higher rho = more self-custodial routing. Theorem 4.3 proves no routing decision violates the specified bound.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Summary &amp; Links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40312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</a:rPr>
              <a:t>Ganji SOR proves that multi-venue agent-native routing can achieve: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73152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+2.4 bps price improvement vs single-venue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73152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47.5ms route discovery (warm cache) on Base Mainnet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73152" cy="3474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Formal optimality proofs for routing, splits, sovereignty, and verifiability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46120"/>
            <a:ext cx="73152" cy="34747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918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10^2-10^3 intents/min agent throughput with &lt;50ms Bellman-Ford convergence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3657600" cy="9144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36576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2335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96F3"/>
                </a:solidFill>
              </a:rPr>
              <a:t>Kaggle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kaggle.com/datasets/abhijeethganji9/ganji-defi-sor-protocol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931920"/>
            <a:ext cx="3657600" cy="9144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931920"/>
            <a:ext cx="3657600" cy="3657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02335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3A047"/>
                </a:solidFill>
              </a:rPr>
              <a:t>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389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github.com/fluidbase9/fluid-sor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931920"/>
            <a:ext cx="3657600" cy="9144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65760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02335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800"/>
                </a:solidFill>
              </a:rPr>
              <a:t>MVP 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389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fluidnative.com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029200"/>
            <a:ext cx="3657600" cy="9144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029200"/>
            <a:ext cx="3657600" cy="3657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120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935"/>
                </a:solidFill>
              </a:rPr>
              <a:t>Contract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486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0xF24daF8Fe15383fb438d48811E8c4b43749DafAE (Base, Chain ID 8453)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5029200"/>
            <a:ext cx="3657600" cy="91440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5029200"/>
            <a:ext cx="3657600" cy="36576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5120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C27B0"/>
                </a:solidFill>
              </a:rPr>
              <a:t>FADP Reference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486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datatracker.ietf.org/doc/html/draft-fluid-fadp-01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License: CC BY 4.0  |  Authors: Abhijeeth Ganji &amp; Priyanka Velpula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